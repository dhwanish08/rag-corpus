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38775C-89B6-4B3D-BC12-D3EA6C1ED0D3}" v="79" dt="2025-10-06T05:13:01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Example 1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C2-4EC1-BA44-36BD30F825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C2-4EC1-BA44-36BD30F825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C2-4EC1-BA44-36BD30F825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62182223"/>
        <c:axId val="662181391"/>
      </c:barChart>
      <c:catAx>
        <c:axId val="662182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181391"/>
        <c:crosses val="autoZero"/>
        <c:auto val="1"/>
        <c:lblAlgn val="ctr"/>
        <c:lblOffset val="100"/>
        <c:noMultiLvlLbl val="0"/>
      </c:catAx>
      <c:valAx>
        <c:axId val="662181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182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Example 2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A17-4624-8381-D37F9DAC70E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A17-4624-8381-D37F9DAC70E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A17-4624-8381-D37F9DAC70E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A17-4624-8381-D37F9DAC70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A17-4624-8381-D37F9DAC70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2A17-4624-8381-D37F9DAC70E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2A17-4624-8381-D37F9DAC70E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2A17-4624-8381-D37F9DAC70E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2A17-4624-8381-D37F9DAC70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A17-4624-8381-D37F9DAC70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A17-4624-8381-D37F9DAC70E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2A17-4624-8381-D37F9DAC70E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2A17-4624-8381-D37F9DAC70E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2A17-4624-8381-D37F9DAC70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2A17-4624-8381-D37F9DAC70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Example 3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C2-4EC1-BA44-36BD30F825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C2-4EC1-BA44-36BD30F825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C2-4EC1-BA44-36BD30F825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62182223"/>
        <c:axId val="662181391"/>
      </c:barChart>
      <c:catAx>
        <c:axId val="6621822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181391"/>
        <c:crosses val="autoZero"/>
        <c:auto val="1"/>
        <c:lblAlgn val="ctr"/>
        <c:lblOffset val="100"/>
        <c:noMultiLvlLbl val="0"/>
      </c:catAx>
      <c:valAx>
        <c:axId val="6621813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182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Sheet1!$A$2:$A$5</cx:f>
        <cx:lvl ptCount="4">
          <cx:pt idx="0">Category 1</cx:pt>
          <cx:pt idx="1">Category 2</cx:pt>
          <cx:pt idx="2">Category 3</cx:pt>
          <cx:pt idx="3">Category 4</cx:pt>
        </cx:lvl>
      </cx:strDim>
      <cx:numDim type="size">
        <cx:f dir="row">Sheet1!$D$2:$D$5</cx:f>
        <cx:lvl ptCount="4" formatCode="General">
          <cx:pt idx="0">2</cx:pt>
          <cx:pt idx="1">2</cx:pt>
          <cx:pt idx="2">3</cx:pt>
          <cx:pt idx="3">5</cx:pt>
        </cx:lvl>
      </cx:numDim>
    </cx:data>
  </cx:chartData>
  <cx:chart>
    <cx:title pos="t" align="ctr" overlay="0">
      <cx:tx>
        <cx:rich>
          <a:bodyPr rot="0" spcFirstLastPara="1" vertOverflow="ellipsis" vert="horz" wrap="square" lIns="38100" tIns="19050" rIns="38100" bIns="19050" anchor="ctr" anchorCtr="1" compatLnSpc="0"/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862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</a:rPr>
              <a:t>Example 4</a:t>
            </a:r>
            <a:endParaRPr lang="en-IN"/>
          </a:p>
        </cx:rich>
      </cx:tx>
    </cx:title>
    <cx:plotArea>
      <cx:plotAreaRegion>
        <cx:series layoutId="sunburst" uniqueId="{805C83BB-10CE-4313-92A8-6C2842DC131C}">
          <cx:tx>
            <cx:txData>
              <cx:f>Sheet1!$D$1</cx:f>
              <cx:v>Series 3</cx:v>
            </cx:txData>
          </cx:tx>
          <cx:dataId val="0"/>
        </cx:series>
      </cx:plotAreaRegion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4749" y="1028448"/>
            <a:ext cx="11102502" cy="22372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b"/>
          <a:lstStyle>
            <a:lvl1pPr algn="ctr">
              <a:defRPr sz="30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Slide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4749" y="3619786"/>
            <a:ext cx="11102501" cy="60157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Adani Medium" panose="020005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 Title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6AA5A4-6C8C-E195-4175-D0136F04D550}"/>
              </a:ext>
            </a:extLst>
          </p:cNvPr>
          <p:cNvSpPr/>
          <p:nvPr/>
        </p:nvSpPr>
        <p:spPr>
          <a:xfrm>
            <a:off x="4296000" y="3402000"/>
            <a:ext cx="3600000" cy="54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055FA-18D4-B757-EDEC-92243253C1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20373" y="4843060"/>
            <a:ext cx="5551251" cy="46439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 b="0" i="0">
                <a:solidFill>
                  <a:schemeClr val="tx1"/>
                </a:solidFill>
                <a:latin typeface="Adani Regular" panose="02000503000000020004" pitchFamily="2" charset="0"/>
              </a:defRPr>
            </a:lvl1pPr>
          </a:lstStyle>
          <a:p>
            <a:pPr lvl="0"/>
            <a:r>
              <a:rPr lang="en-US" dirty="0"/>
              <a:t>Presented by: John smith</a:t>
            </a:r>
          </a:p>
        </p:txBody>
      </p:sp>
    </p:spTree>
    <p:extLst>
      <p:ext uri="{BB962C8B-B14F-4D97-AF65-F5344CB8AC3E}">
        <p14:creationId xmlns:p14="http://schemas.microsoft.com/office/powerpoint/2010/main" val="2528732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agraph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6BDAAE-4F1F-4BCD-6572-30DA1F00E0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2" y="1636713"/>
            <a:ext cx="11090275" cy="4672012"/>
          </a:xfrm>
          <a:prstGeom prst="rect">
            <a:avLst/>
          </a:prstGeom>
        </p:spPr>
        <p:txBody>
          <a:bodyPr wrap="square" numCol="1" spcCol="540000"/>
          <a:lstStyle>
            <a:lvl1pPr marL="285750" indent="-285750" algn="just">
              <a:buFont typeface="Adani Regular" panose="02000503000000020004" pitchFamily="2" charset="0"/>
              <a:buChar char="•"/>
              <a:defRPr sz="2200" b="0" i="0">
                <a:latin typeface="Adani Regular" panose="02000503000000020004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lang="en-IN" sz="2000" b="0" i="0" kern="1200" dirty="0">
                <a:solidFill>
                  <a:schemeClr val="tx1"/>
                </a:solidFill>
                <a:latin typeface="Adani Regular" panose="02000503000000020004" pitchFamily="2" charset="0"/>
                <a:ea typeface="+mn-ea"/>
                <a:cs typeface="+mn-cs"/>
              </a:defRPr>
            </a:lvl2pPr>
            <a:lvl3pPr marL="1143000" indent="-228600">
              <a:buFont typeface="Open Sans" panose="020B0606030504020204" pitchFamily="34" charset="0"/>
              <a:buChar char="–"/>
              <a:defRPr sz="1800" b="0" i="0">
                <a:latin typeface="Adani Regular" panose="02000503000000020004" pitchFamily="2" charset="0"/>
              </a:defRPr>
            </a:lvl3pPr>
            <a:lvl4pPr>
              <a:defRPr b="0" i="0">
                <a:latin typeface="Adani Regular" panose="02000503000000020004" pitchFamily="2" charset="0"/>
              </a:defRPr>
            </a:lvl4pPr>
            <a:lvl5pPr>
              <a:defRPr b="0" i="0">
                <a:latin typeface="Adani Regular" panose="02000503000000020004" pitchFamily="2" charset="0"/>
              </a:defRPr>
            </a:lvl5pPr>
          </a:lstStyle>
          <a:p>
            <a:pPr lvl="0"/>
            <a:r>
              <a:rPr lang="en-US" dirty="0"/>
              <a:t>Paragraph 1</a:t>
            </a:r>
          </a:p>
          <a:p>
            <a:pPr lvl="1"/>
            <a:r>
              <a:rPr lang="en-IN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 2</a:t>
            </a:r>
          </a:p>
          <a:p>
            <a:pPr lvl="2"/>
            <a:r>
              <a:rPr lang="en-IN" b="0" i="0" dirty="0">
                <a:solidFill>
                  <a:srgbClr val="000000"/>
                </a:solidFill>
                <a:effectLst/>
                <a:latin typeface="Adani Regular" panose="02000503000000020004" pitchFamily="2" charset="0"/>
              </a:rPr>
              <a:t>Paragraph 3</a:t>
            </a:r>
            <a:endParaRPr lang="en-IN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CC05B9-FE4B-C80A-35BE-92E8FD6809D1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38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Point Text Slide</a:t>
            </a:r>
            <a:endParaRPr lang="en-IN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550864" y="1628776"/>
            <a:ext cx="5350404" cy="4679950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Ø"/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Paragraph 1</a:t>
            </a:r>
          </a:p>
          <a:p>
            <a:pPr lvl="1"/>
            <a:r>
              <a:rPr lang="en-IN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 2</a:t>
            </a:r>
          </a:p>
          <a:p>
            <a:pPr lvl="2"/>
            <a:r>
              <a:rPr lang="en-IN" b="0" i="0" dirty="0">
                <a:solidFill>
                  <a:srgbClr val="000000"/>
                </a:solidFill>
                <a:effectLst/>
                <a:latin typeface="Adani Regular" panose="02000503000000020004" pitchFamily="2" charset="0"/>
              </a:rPr>
              <a:t>Paragraph 3</a:t>
            </a:r>
            <a:endParaRPr lang="en-IN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6290734" y="1628776"/>
            <a:ext cx="5350404" cy="4679950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lang="en-IN" sz="1500" b="0" i="0" kern="1200" dirty="0" smtClean="0">
                <a:solidFill>
                  <a:schemeClr val="tx1"/>
                </a:solidFill>
                <a:latin typeface="Adani Regular" panose="02000503000000020004" pitchFamily="2" charset="0"/>
                <a:ea typeface="+mn-ea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Ø"/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Paragraph 1</a:t>
            </a:r>
          </a:p>
          <a:p>
            <a:pPr lvl="1"/>
            <a:r>
              <a:rPr lang="en-IN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 2</a:t>
            </a:r>
          </a:p>
          <a:p>
            <a:pPr lvl="2"/>
            <a:r>
              <a:rPr lang="en-IN" b="0" i="0" dirty="0">
                <a:solidFill>
                  <a:srgbClr val="000000"/>
                </a:solidFill>
                <a:effectLst/>
                <a:latin typeface="Adani Regular" panose="02000503000000020004" pitchFamily="2" charset="0"/>
              </a:rPr>
              <a:t>Paragraph 3</a:t>
            </a:r>
            <a:endParaRPr lang="en-IN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812ACC-BF89-B229-3F36-99A14298CB33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7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Text with Sub Hea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Point Text with Sub Heading Slide</a:t>
            </a:r>
            <a:endParaRPr lang="en-IN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550864" y="1933417"/>
            <a:ext cx="5350404" cy="917027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Key Point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812ACC-BF89-B229-3F36-99A14298CB33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2D64C-55B2-CBB3-A7DE-2B07309137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1628776"/>
            <a:ext cx="5350404" cy="28515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 i="0">
                <a:solidFill>
                  <a:srgbClr val="8E278F"/>
                </a:solidFill>
                <a:latin typeface="Adani Medium" panose="02000503000000020004" pitchFamily="2" charset="0"/>
              </a:defRPr>
            </a:lvl1pPr>
            <a:lvl2pPr>
              <a:defRPr sz="1500" b="1" i="0">
                <a:latin typeface="Adani Regular" panose="02000503000000020004" pitchFamily="2" charset="0"/>
              </a:defRPr>
            </a:lvl2pPr>
            <a:lvl3pPr>
              <a:defRPr sz="1500" b="1" i="0">
                <a:latin typeface="Adani Regular" panose="02000503000000020004" pitchFamily="2" charset="0"/>
              </a:defRPr>
            </a:lvl3pPr>
            <a:lvl4pPr>
              <a:defRPr sz="1500" b="1" i="0">
                <a:latin typeface="Adani Regular" panose="02000503000000020004" pitchFamily="2" charset="0"/>
              </a:defRPr>
            </a:lvl4pPr>
            <a:lvl5pPr>
              <a:defRPr sz="1500" b="1" i="0">
                <a:latin typeface="Adani Regular" panose="02000503000000020004" pitchFamily="2" charset="0"/>
              </a:defRPr>
            </a:lvl5pPr>
          </a:lstStyle>
          <a:p>
            <a:pPr lvl="0"/>
            <a:r>
              <a:rPr lang="en-GB" dirty="0"/>
              <a:t>Sub Heading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66255F1-52D1-54CE-755D-CFC6DF759C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4" y="3670472"/>
            <a:ext cx="5350404" cy="917027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Key Point</a:t>
            </a:r>
            <a:endParaRPr lang="en-IN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2922CCC-38C9-6D39-3F3F-D3B27C2934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3356329"/>
            <a:ext cx="5350404" cy="28515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 i="0">
                <a:solidFill>
                  <a:srgbClr val="8E278F"/>
                </a:solidFill>
                <a:latin typeface="Adani Medium" panose="02000503000000020004" pitchFamily="2" charset="0"/>
              </a:defRPr>
            </a:lvl1pPr>
            <a:lvl2pPr>
              <a:defRPr sz="1500" b="1" i="0">
                <a:latin typeface="Adani Regular" panose="02000503000000020004" pitchFamily="2" charset="0"/>
              </a:defRPr>
            </a:lvl2pPr>
            <a:lvl3pPr>
              <a:defRPr sz="1500" b="1" i="0">
                <a:latin typeface="Adani Regular" panose="02000503000000020004" pitchFamily="2" charset="0"/>
              </a:defRPr>
            </a:lvl3pPr>
            <a:lvl4pPr>
              <a:defRPr sz="1500" b="1" i="0">
                <a:latin typeface="Adani Regular" panose="02000503000000020004" pitchFamily="2" charset="0"/>
              </a:defRPr>
            </a:lvl4pPr>
            <a:lvl5pPr>
              <a:defRPr sz="1500" b="1" i="0">
                <a:latin typeface="Adani Regular" panose="02000503000000020004" pitchFamily="2" charset="0"/>
              </a:defRPr>
            </a:lvl5pPr>
          </a:lstStyle>
          <a:p>
            <a:pPr lvl="0"/>
            <a:r>
              <a:rPr lang="en-GB" dirty="0"/>
              <a:t>Sub Heading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DA519D8-C0CA-9ADA-1DB8-23B22A6675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4" y="5391698"/>
            <a:ext cx="5350404" cy="917027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Key Point</a:t>
            </a:r>
            <a:endParaRPr lang="en-IN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E6CA691-1A53-D387-5120-00CBCFD000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5093385"/>
            <a:ext cx="5350404" cy="28515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 i="0">
                <a:solidFill>
                  <a:srgbClr val="8E278F"/>
                </a:solidFill>
                <a:latin typeface="Adani Medium" panose="02000503000000020004" pitchFamily="2" charset="0"/>
              </a:defRPr>
            </a:lvl1pPr>
            <a:lvl2pPr>
              <a:defRPr sz="1500" b="1" i="0">
                <a:latin typeface="Adani Regular" panose="02000503000000020004" pitchFamily="2" charset="0"/>
              </a:defRPr>
            </a:lvl2pPr>
            <a:lvl3pPr>
              <a:defRPr sz="1500" b="1" i="0">
                <a:latin typeface="Adani Regular" panose="02000503000000020004" pitchFamily="2" charset="0"/>
              </a:defRPr>
            </a:lvl3pPr>
            <a:lvl4pPr>
              <a:defRPr sz="1500" b="1" i="0">
                <a:latin typeface="Adani Regular" panose="02000503000000020004" pitchFamily="2" charset="0"/>
              </a:defRPr>
            </a:lvl4pPr>
            <a:lvl5pPr>
              <a:defRPr sz="1500" b="1" i="0">
                <a:latin typeface="Adani Regular" panose="02000503000000020004" pitchFamily="2" charset="0"/>
              </a:defRPr>
            </a:lvl5pPr>
          </a:lstStyle>
          <a:p>
            <a:pPr lvl="0"/>
            <a:r>
              <a:rPr lang="en-GB" dirty="0"/>
              <a:t>Sub Heading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85FF374-E2AC-7BD4-6C48-8D207FC53C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1" y="1933416"/>
            <a:ext cx="5350404" cy="917027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Key Point</a:t>
            </a:r>
            <a:endParaRPr lang="en-IN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E85552C-1BB3-910D-8795-24E0311288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628775"/>
            <a:ext cx="5350404" cy="28515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 i="0">
                <a:solidFill>
                  <a:srgbClr val="8E278F"/>
                </a:solidFill>
                <a:latin typeface="Adani Medium" panose="02000503000000020004" pitchFamily="2" charset="0"/>
              </a:defRPr>
            </a:lvl1pPr>
            <a:lvl2pPr>
              <a:defRPr sz="1500" b="1" i="0">
                <a:latin typeface="Adani Regular" panose="02000503000000020004" pitchFamily="2" charset="0"/>
              </a:defRPr>
            </a:lvl2pPr>
            <a:lvl3pPr>
              <a:defRPr sz="1500" b="1" i="0">
                <a:latin typeface="Adani Regular" panose="02000503000000020004" pitchFamily="2" charset="0"/>
              </a:defRPr>
            </a:lvl3pPr>
            <a:lvl4pPr>
              <a:defRPr sz="1500" b="1" i="0">
                <a:latin typeface="Adani Regular" panose="02000503000000020004" pitchFamily="2" charset="0"/>
              </a:defRPr>
            </a:lvl4pPr>
            <a:lvl5pPr>
              <a:defRPr sz="1500" b="1" i="0">
                <a:latin typeface="Adani Regular" panose="02000503000000020004" pitchFamily="2" charset="0"/>
              </a:defRPr>
            </a:lvl5pPr>
          </a:lstStyle>
          <a:p>
            <a:pPr lvl="0"/>
            <a:r>
              <a:rPr lang="en-GB" dirty="0"/>
              <a:t>Sub Heading</a:t>
            </a:r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42918D4-7483-1F6C-20D8-3143D17B5C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1" y="3670471"/>
            <a:ext cx="5350404" cy="917027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Key Point</a:t>
            </a:r>
            <a:endParaRPr lang="en-IN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3F23BA8-4155-2DA2-17D0-C60546BCA7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3356328"/>
            <a:ext cx="5350404" cy="28515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 i="0">
                <a:solidFill>
                  <a:srgbClr val="8E278F"/>
                </a:solidFill>
                <a:latin typeface="Adani Medium" panose="02000503000000020004" pitchFamily="2" charset="0"/>
              </a:defRPr>
            </a:lvl1pPr>
            <a:lvl2pPr>
              <a:defRPr sz="1500" b="1" i="0">
                <a:latin typeface="Adani Regular" panose="02000503000000020004" pitchFamily="2" charset="0"/>
              </a:defRPr>
            </a:lvl2pPr>
            <a:lvl3pPr>
              <a:defRPr sz="1500" b="1" i="0">
                <a:latin typeface="Adani Regular" panose="02000503000000020004" pitchFamily="2" charset="0"/>
              </a:defRPr>
            </a:lvl3pPr>
            <a:lvl4pPr>
              <a:defRPr sz="1500" b="1" i="0">
                <a:latin typeface="Adani Regular" panose="02000503000000020004" pitchFamily="2" charset="0"/>
              </a:defRPr>
            </a:lvl4pPr>
            <a:lvl5pPr>
              <a:defRPr sz="1500" b="1" i="0">
                <a:latin typeface="Adani Regular" panose="02000503000000020004" pitchFamily="2" charset="0"/>
              </a:defRPr>
            </a:lvl5pPr>
          </a:lstStyle>
          <a:p>
            <a:pPr lvl="0"/>
            <a:r>
              <a:rPr lang="en-GB" dirty="0"/>
              <a:t>Sub Heading</a:t>
            </a:r>
            <a:endParaRPr lang="en-US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0BB7EEC-A61B-1321-E4C2-F47FE3E0DD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5391697"/>
            <a:ext cx="5350404" cy="917027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Key Point</a:t>
            </a:r>
            <a:endParaRPr lang="en-IN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388ED04-D2CA-2A91-2A8C-9D3DEA2D303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093384"/>
            <a:ext cx="5350404" cy="28515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 i="0">
                <a:solidFill>
                  <a:srgbClr val="8E278F"/>
                </a:solidFill>
                <a:latin typeface="Adani Medium" panose="02000503000000020004" pitchFamily="2" charset="0"/>
              </a:defRPr>
            </a:lvl1pPr>
            <a:lvl2pPr>
              <a:defRPr sz="1500" b="1" i="0">
                <a:latin typeface="Adani Regular" panose="02000503000000020004" pitchFamily="2" charset="0"/>
              </a:defRPr>
            </a:lvl2pPr>
            <a:lvl3pPr>
              <a:defRPr sz="1500" b="1" i="0">
                <a:latin typeface="Adani Regular" panose="02000503000000020004" pitchFamily="2" charset="0"/>
              </a:defRPr>
            </a:lvl3pPr>
            <a:lvl4pPr>
              <a:defRPr sz="1500" b="1" i="0">
                <a:latin typeface="Adani Regular" panose="02000503000000020004" pitchFamily="2" charset="0"/>
              </a:defRPr>
            </a:lvl4pPr>
            <a:lvl5pPr>
              <a:defRPr sz="1500" b="1" i="0">
                <a:latin typeface="Adani Regular" panose="02000503000000020004" pitchFamily="2" charset="0"/>
              </a:defRPr>
            </a:lvl5pPr>
          </a:lstStyle>
          <a:p>
            <a:pPr lvl="0"/>
            <a:r>
              <a:rPr lang="en-GB" dirty="0"/>
              <a:t>Sub 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04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Text with Object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Point Text with Object Content Slide</a:t>
            </a:r>
            <a:endParaRPr lang="en-IN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550864" y="1628776"/>
            <a:ext cx="5350404" cy="4679950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Key Point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26F7D-17E4-CAEA-253D-79DBB5AE3AD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91262" y="1803400"/>
            <a:ext cx="5349875" cy="4505325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067BC-4C0C-CA2D-9C34-4F7005B0045B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4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Image Slide</a:t>
            </a:r>
            <a:endParaRPr lang="en-IN" dirty="0"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50863" y="1628775"/>
            <a:ext cx="2880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here to add Image Note:- Please do not Stretch or Squeeze an Image</a:t>
            </a:r>
            <a:endParaRPr lang="en-IN" dirty="0"/>
          </a:p>
        </p:txBody>
      </p:sp>
      <p:sp>
        <p:nvSpPr>
          <p:cNvPr id="9" name="Picture Placeholder 7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0863" y="4133324"/>
            <a:ext cx="2880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here to add Image Note:- Please do not Stretch or Squeeze an Image</a:t>
            </a:r>
            <a:endParaRPr lang="en-IN" dirty="0"/>
          </a:p>
        </p:txBody>
      </p:sp>
      <p:sp>
        <p:nvSpPr>
          <p:cNvPr id="10" name="Picture Placeholder 7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656000" y="1628775"/>
            <a:ext cx="2880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here to add Image Note:- Please do not Stretch or Squeeze an Image</a:t>
            </a:r>
            <a:endParaRPr lang="en-IN" dirty="0"/>
          </a:p>
        </p:txBody>
      </p:sp>
      <p:sp>
        <p:nvSpPr>
          <p:cNvPr id="11" name="Picture Placeholder 7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656000" y="4133324"/>
            <a:ext cx="2880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here to add Image Note:- Please do not Stretch or Squeeze an Image</a:t>
            </a:r>
            <a:endParaRPr lang="en-IN" dirty="0"/>
          </a:p>
        </p:txBody>
      </p:sp>
      <p:sp>
        <p:nvSpPr>
          <p:cNvPr id="12" name="Picture Placeholder 7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761138" y="1628775"/>
            <a:ext cx="2880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here to add Image Note:- Please do not Stretch or Squeeze an Image</a:t>
            </a:r>
            <a:endParaRPr lang="en-IN" dirty="0"/>
          </a:p>
        </p:txBody>
      </p:sp>
      <p:sp>
        <p:nvSpPr>
          <p:cNvPr id="13" name="Picture Placeholder 7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761138" y="4133324"/>
            <a:ext cx="2880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here to add Image Note:- Please do not Stretch or Squeeze an Image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65730C-DB3E-592A-380D-76BFC4FD85F2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6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Text with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6ACF48-CE40-757F-4D6D-168559CE0B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Point Text with Image Slide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8A58D0-06D6-3C5D-DA04-19B017C81A0E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01586936-E68E-FB4E-0CE4-E4F1C31864BF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50863" y="1633860"/>
            <a:ext cx="2880000" cy="14393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here to add Image Note:- Please do not Stretch or Squeeze an Image</a:t>
            </a:r>
            <a:endParaRPr lang="en-IN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A6CFDF7-0E3D-3B4B-7D0C-AEC784ABC7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4079" y="1633860"/>
            <a:ext cx="7797058" cy="1439349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Key Point</a:t>
            </a:r>
            <a:endParaRPr lang="en-IN" dirty="0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1CC34C73-514D-4585-FF6B-61FA281C1F32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863" y="3251618"/>
            <a:ext cx="2880000" cy="14393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here to add Image Note:- Please do not Stretch or Squeeze an Image</a:t>
            </a:r>
            <a:endParaRPr lang="en-IN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21370AC-BC00-92E4-20FF-651619BB51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44079" y="3251618"/>
            <a:ext cx="7797058" cy="1439349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Key Point</a:t>
            </a:r>
            <a:endParaRPr lang="en-IN" dirty="0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D0E9B7EE-9335-DAB3-7338-DC0FED8E1B05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50864" y="4869376"/>
            <a:ext cx="2880000" cy="14393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here to add Image Note:- Please do not Stretch or Squeeze an Image</a:t>
            </a:r>
            <a:endParaRPr lang="en-IN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E866D697-0385-E970-DF76-F3A17287CA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44080" y="4869376"/>
            <a:ext cx="7797058" cy="1439349"/>
          </a:xfrm>
          <a:prstGeom prst="rect">
            <a:avLst/>
          </a:prstGeom>
        </p:spPr>
        <p:txBody>
          <a:bodyPr/>
          <a:lstStyle>
            <a:lvl1pPr>
              <a:defRPr sz="1500" b="0" i="0">
                <a:latin typeface="Adani Regular" panose="02000503000000020004" pitchFamily="2" charset="0"/>
                <a:cs typeface="Arial" panose="020B0604020202020204" pitchFamily="34" charset="0"/>
              </a:defRPr>
            </a:lvl1pPr>
            <a:lvl2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Key Point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917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tlin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F5A4EA-5EF9-0F1C-AE3B-2769FA6EB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Outline Slide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87025A-88BE-FB82-35D8-1944338EDC94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30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F5A4EA-5EF9-0F1C-AE3B-2769FA6EB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 i="0" baseline="0">
                <a:solidFill>
                  <a:schemeClr val="tx1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Video Slide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EF9227-6F58-B7C1-857A-676EAB62456D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Logo&#10;&#10;Description automatically generated with low confidence">
            <a:extLst>
              <a:ext uri="{FF2B5EF4-FFF2-40B4-BE49-F238E27FC236}">
                <a16:creationId xmlns:a16="http://schemas.microsoft.com/office/drawing/2014/main" id="{20F692E4-9C7D-6D85-46D1-218CC0B47D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000" y="0"/>
            <a:ext cx="1440000" cy="1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2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Chart Examples Slide</a:t>
            </a:r>
            <a:endParaRPr lang="en-IN" dirty="0"/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4240195106"/>
              </p:ext>
            </p:extLst>
          </p:nvPr>
        </p:nvGraphicFramePr>
        <p:xfrm>
          <a:off x="550864" y="1562100"/>
          <a:ext cx="5545136" cy="474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1332801791"/>
              </p:ext>
            </p:extLst>
          </p:nvPr>
        </p:nvGraphicFramePr>
        <p:xfrm>
          <a:off x="6096000" y="1562100"/>
          <a:ext cx="5545138" cy="474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AB2EBCC-6697-C276-77D6-A265C4ED2830}"/>
              </a:ext>
            </a:extLst>
          </p:cNvPr>
          <p:cNvSpPr txBox="1"/>
          <p:nvPr/>
        </p:nvSpPr>
        <p:spPr>
          <a:xfrm>
            <a:off x="550862" y="128643"/>
            <a:ext cx="5694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Note:- Do not use this slide. This is for reference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C97F4-9D87-78D1-F4B7-DB19BDD9EF33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4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Chart Examples Slide</a:t>
            </a:r>
            <a:endParaRPr lang="en-IN" dirty="0"/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3003562884"/>
              </p:ext>
            </p:extLst>
          </p:nvPr>
        </p:nvGraphicFramePr>
        <p:xfrm>
          <a:off x="550864" y="1562100"/>
          <a:ext cx="5545136" cy="474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4" name="Chart 13"/>
              <p:cNvGraphicFramePr/>
              <p:nvPr>
                <p:extLst>
                  <p:ext uri="{D42A27DB-BD31-4B8C-83A1-F6EECF244321}">
                    <p14:modId xmlns:p14="http://schemas.microsoft.com/office/powerpoint/2010/main" val="2865944595"/>
                  </p:ext>
                </p:extLst>
              </p:nvPr>
            </p:nvGraphicFramePr>
            <p:xfrm>
              <a:off x="6096000" y="1562100"/>
              <a:ext cx="5545138" cy="474662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4" name="Chart 13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6000" y="1562100"/>
                <a:ext cx="5545138" cy="4746625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65875AA-C8C6-834F-A67C-B83FFBB2EF4D}"/>
              </a:ext>
            </a:extLst>
          </p:cNvPr>
          <p:cNvSpPr txBox="1"/>
          <p:nvPr/>
        </p:nvSpPr>
        <p:spPr>
          <a:xfrm>
            <a:off x="550862" y="128643"/>
            <a:ext cx="5694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Note:- Do not use this slide. This is for reference only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E7CED3-694A-364B-C08E-7713F2E55CA2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88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Table Examples Slide</a:t>
            </a:r>
            <a:endParaRPr lang="en-IN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200058"/>
              </p:ext>
            </p:extLst>
          </p:nvPr>
        </p:nvGraphicFramePr>
        <p:xfrm>
          <a:off x="550862" y="1628775"/>
          <a:ext cx="11090275" cy="4679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055">
                  <a:extLst>
                    <a:ext uri="{9D8B030D-6E8A-4147-A177-3AD203B41FA5}">
                      <a16:colId xmlns:a16="http://schemas.microsoft.com/office/drawing/2014/main" val="760433182"/>
                    </a:ext>
                  </a:extLst>
                </a:gridCol>
                <a:gridCol w="2218055">
                  <a:extLst>
                    <a:ext uri="{9D8B030D-6E8A-4147-A177-3AD203B41FA5}">
                      <a16:colId xmlns:a16="http://schemas.microsoft.com/office/drawing/2014/main" val="464844037"/>
                    </a:ext>
                  </a:extLst>
                </a:gridCol>
                <a:gridCol w="2218055">
                  <a:extLst>
                    <a:ext uri="{9D8B030D-6E8A-4147-A177-3AD203B41FA5}">
                      <a16:colId xmlns:a16="http://schemas.microsoft.com/office/drawing/2014/main" val="2292404349"/>
                    </a:ext>
                  </a:extLst>
                </a:gridCol>
                <a:gridCol w="2218055">
                  <a:extLst>
                    <a:ext uri="{9D8B030D-6E8A-4147-A177-3AD203B41FA5}">
                      <a16:colId xmlns:a16="http://schemas.microsoft.com/office/drawing/2014/main" val="3466406743"/>
                    </a:ext>
                  </a:extLst>
                </a:gridCol>
                <a:gridCol w="2218055">
                  <a:extLst>
                    <a:ext uri="{9D8B030D-6E8A-4147-A177-3AD203B41FA5}">
                      <a16:colId xmlns:a16="http://schemas.microsoft.com/office/drawing/2014/main" val="286127728"/>
                    </a:ext>
                  </a:extLst>
                </a:gridCol>
              </a:tblGrid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Title</a:t>
                      </a:r>
                      <a:endParaRPr lang="en-IN" sz="1500" b="0" i="0" dirty="0">
                        <a:solidFill>
                          <a:schemeClr val="bg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E27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Title</a:t>
                      </a:r>
                      <a:endParaRPr lang="en-IN" sz="1500" b="0" i="0" dirty="0">
                        <a:solidFill>
                          <a:schemeClr val="bg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E27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Title</a:t>
                      </a:r>
                      <a:endParaRPr lang="en-IN" sz="1500" b="0" i="0" dirty="0">
                        <a:solidFill>
                          <a:schemeClr val="bg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E27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Title</a:t>
                      </a:r>
                      <a:endParaRPr lang="en-IN" sz="1500" b="0" i="0" dirty="0">
                        <a:solidFill>
                          <a:schemeClr val="bg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E27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Title</a:t>
                      </a:r>
                      <a:endParaRPr lang="en-IN" sz="1500" b="0" i="0" dirty="0">
                        <a:solidFill>
                          <a:schemeClr val="bg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E27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12584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79725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537555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147632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914641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433276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51546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342449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990606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524379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495270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696600"/>
                  </a:ext>
                </a:extLst>
              </a:tr>
              <a:tr h="330906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806302"/>
                  </a:ext>
                </a:extLst>
              </a:tr>
              <a:tr h="378178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cs typeface="Arial" panose="020B0604020202020204" pitchFamily="34" charset="0"/>
                        </a:rPr>
                        <a:t>Text</a:t>
                      </a:r>
                      <a:endParaRPr lang="en-IN" sz="1500" b="0" i="0" dirty="0">
                        <a:solidFill>
                          <a:schemeClr val="tx1"/>
                        </a:solidFill>
                        <a:latin typeface="Adani Regular" panose="02000503000000020004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7665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0D82470-48EE-B6F0-3F37-324BDFD128E3}"/>
              </a:ext>
            </a:extLst>
          </p:cNvPr>
          <p:cNvSpPr txBox="1"/>
          <p:nvPr/>
        </p:nvSpPr>
        <p:spPr>
          <a:xfrm>
            <a:off x="550862" y="128643"/>
            <a:ext cx="5694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Note:- Do not use this slide. This is for reference only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201B78-A60B-51FD-9B73-85EB4A9ADE69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11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F5A4EA-5EF9-0F1C-AE3B-2769FA6EB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4676"/>
            <a:ext cx="9000000" cy="5613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 i="0" baseline="0">
                <a:solidFill>
                  <a:srgbClr val="006DB6"/>
                </a:solidFill>
                <a:latin typeface="Adani Regula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Icon Examples Slide</a:t>
            </a:r>
            <a:endParaRPr lang="en-IN" dirty="0"/>
          </a:p>
        </p:txBody>
      </p:sp>
      <p:pic>
        <p:nvPicPr>
          <p:cNvPr id="18" name="Graphic 17" descr="Lights On with solid fill">
            <a:extLst>
              <a:ext uri="{FF2B5EF4-FFF2-40B4-BE49-F238E27FC236}">
                <a16:creationId xmlns:a16="http://schemas.microsoft.com/office/drawing/2014/main" id="{88325546-6B41-345F-0763-15FFF0F437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20" name="Graphic 19" descr="Good Idea with solid fill">
            <a:extLst>
              <a:ext uri="{FF2B5EF4-FFF2-40B4-BE49-F238E27FC236}">
                <a16:creationId xmlns:a16="http://schemas.microsoft.com/office/drawing/2014/main" id="{04F3672C-E6DA-D99D-27D9-7EEF24EA21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0574" y="2971800"/>
            <a:ext cx="914400" cy="914400"/>
          </a:xfrm>
          <a:prstGeom prst="rect">
            <a:avLst/>
          </a:prstGeom>
        </p:spPr>
      </p:pic>
      <p:pic>
        <p:nvPicPr>
          <p:cNvPr id="22" name="Graphic 21" descr="Group brainstorm outline">
            <a:extLst>
              <a:ext uri="{FF2B5EF4-FFF2-40B4-BE49-F238E27FC236}">
                <a16:creationId xmlns:a16="http://schemas.microsoft.com/office/drawing/2014/main" id="{2DE071CA-39F3-EB9D-1CBB-AE5706D8FA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9687" y="3019272"/>
            <a:ext cx="914400" cy="914400"/>
          </a:xfrm>
          <a:prstGeom prst="rect">
            <a:avLst/>
          </a:prstGeom>
        </p:spPr>
      </p:pic>
      <p:pic>
        <p:nvPicPr>
          <p:cNvPr id="24" name="Graphic 23" descr="Right Brain with solid fill">
            <a:extLst>
              <a:ext uri="{FF2B5EF4-FFF2-40B4-BE49-F238E27FC236}">
                <a16:creationId xmlns:a16="http://schemas.microsoft.com/office/drawing/2014/main" id="{E94A7687-3463-0FBD-4A21-AE4EB35C69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7025" y="2971800"/>
            <a:ext cx="914400" cy="914400"/>
          </a:xfrm>
          <a:prstGeom prst="rect">
            <a:avLst/>
          </a:prstGeom>
        </p:spPr>
      </p:pic>
      <p:pic>
        <p:nvPicPr>
          <p:cNvPr id="26" name="Graphic 25" descr="Meeting with solid fill">
            <a:extLst>
              <a:ext uri="{FF2B5EF4-FFF2-40B4-BE49-F238E27FC236}">
                <a16:creationId xmlns:a16="http://schemas.microsoft.com/office/drawing/2014/main" id="{522B4FCE-49F7-2FB8-1097-A9F6752A5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7913" y="3019272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0446BF0-D54C-843B-2911-E657D3BC2D4D}"/>
              </a:ext>
            </a:extLst>
          </p:cNvPr>
          <p:cNvSpPr txBox="1"/>
          <p:nvPr/>
        </p:nvSpPr>
        <p:spPr>
          <a:xfrm>
            <a:off x="550862" y="128643"/>
            <a:ext cx="5694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Note:- Do not use this slide. This is for reference only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187AF8-5A86-6C78-4BFB-DD6D7582AF17}"/>
              </a:ext>
            </a:extLst>
          </p:cNvPr>
          <p:cNvSpPr/>
          <p:nvPr/>
        </p:nvSpPr>
        <p:spPr>
          <a:xfrm>
            <a:off x="550863" y="1126066"/>
            <a:ext cx="1800000" cy="1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50863" y="6473001"/>
            <a:ext cx="1605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dani Regular" panose="02000503000000020004" pitchFamily="2" charset="0"/>
                <a:cs typeface="Arial" panose="020B0604020202020204" pitchFamily="34" charset="0"/>
              </a:rPr>
              <a:t>www.adaniuni.ac.in</a:t>
            </a:r>
            <a:endParaRPr lang="en-IN" sz="1200" b="0" i="0" dirty="0">
              <a:solidFill>
                <a:schemeClr val="tx1">
                  <a:lumMod val="50000"/>
                  <a:lumOff val="50000"/>
                </a:schemeClr>
              </a:solidFill>
              <a:latin typeface="Adani Regula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5754" y="6473000"/>
            <a:ext cx="393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625D9FD-2AFA-4306-9FB9-C8E43859F430}" type="slidenum">
              <a:rPr lang="en-US" sz="12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Adani Regular" panose="02000503000000020004" pitchFamily="2" charset="0"/>
                <a:cs typeface="Arial" panose="020B0604020202020204" pitchFamily="34" charset="0"/>
              </a:rPr>
              <a:t>‹#›</a:t>
            </a:fld>
            <a:endParaRPr lang="en-IN" sz="1200" b="0" i="0" dirty="0">
              <a:solidFill>
                <a:schemeClr val="tx1">
                  <a:lumMod val="50000"/>
                  <a:lumOff val="50000"/>
                </a:schemeClr>
              </a:solidFill>
              <a:latin typeface="Adani Regula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B99305-3CA5-0B03-3512-E3BCCA2290E9}"/>
              </a:ext>
            </a:extLst>
          </p:cNvPr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gradFill flip="none" rotWithShape="0">
            <a:gsLst>
              <a:gs pos="0">
                <a:srgbClr val="0080A7"/>
              </a:gs>
              <a:gs pos="35000">
                <a:srgbClr val="5E57A6"/>
              </a:gs>
              <a:gs pos="65000">
                <a:srgbClr val="813B97"/>
              </a:gs>
              <a:gs pos="100000">
                <a:srgbClr val="C1395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98BFC696-D0F5-D0CB-677E-241E31D41C7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633" y="108001"/>
            <a:ext cx="2194367" cy="73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3974">
          <p15:clr>
            <a:srgbClr val="F26B43"/>
          </p15:clr>
        </p15:guide>
        <p15:guide id="7" orient="horz" pos="102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58B801-B6CF-FC2A-9090-964F7D2AF2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947616D-5649-FBC0-858D-8A9E278A7C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0BDD82-EC92-CA48-53CA-F71F5E6DAC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0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02A0-F2EC-8045-711C-38A262469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E9A0F-0684-2FD6-B744-52976FB5D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  <a:p>
            <a:r>
              <a:rPr lang="en-US" dirty="0"/>
              <a:t>Introduction (Overview, Need, Motivation, Prospective Users)</a:t>
            </a:r>
          </a:p>
          <a:p>
            <a:r>
              <a:rPr lang="en-US" dirty="0"/>
              <a:t>Problem Statement (Functionality)</a:t>
            </a:r>
          </a:p>
          <a:p>
            <a:r>
              <a:rPr lang="en-US" dirty="0"/>
              <a:t>Proposed Solution (Features and their behavior)</a:t>
            </a:r>
          </a:p>
          <a:p>
            <a:r>
              <a:rPr lang="en-US" dirty="0"/>
              <a:t>Feasibility Analysis</a:t>
            </a:r>
          </a:p>
          <a:p>
            <a:pPr lvl="1"/>
            <a:r>
              <a:rPr lang="en-US" dirty="0"/>
              <a:t>Technical Feasibility</a:t>
            </a:r>
          </a:p>
          <a:p>
            <a:r>
              <a:rPr lang="en-US" dirty="0"/>
              <a:t>Analysis / Architecture (Use Case, Activity, Architectural Flows, Block Diagrams)</a:t>
            </a:r>
          </a:p>
          <a:p>
            <a:r>
              <a:rPr lang="en-US" dirty="0"/>
              <a:t>Design / Modeling (Class, Component, Deployment Diagrams)</a:t>
            </a:r>
          </a:p>
          <a:p>
            <a:r>
              <a:rPr lang="en-US" dirty="0"/>
              <a:t>User Interfaces and Databases / Data Sets 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946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BCF7-556B-38EA-7E67-0134D1AA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A0BBC-B6B0-958D-B33F-8049ACAA4C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 the formatting as in the template</a:t>
            </a:r>
          </a:p>
          <a:p>
            <a:r>
              <a:rPr lang="en-US" dirty="0"/>
              <a:t>Use diagrams for clarity</a:t>
            </a:r>
          </a:p>
          <a:p>
            <a:r>
              <a:rPr lang="en-US" dirty="0"/>
              <a:t>If the diagrams are too lengthy – use snapshots</a:t>
            </a:r>
          </a:p>
          <a:p>
            <a:r>
              <a:rPr lang="en-US" dirty="0"/>
              <a:t>Animate flows wherever possible</a:t>
            </a:r>
          </a:p>
          <a:p>
            <a:r>
              <a:rPr lang="en-US" dirty="0"/>
              <a:t>Annotate diagrams / label them</a:t>
            </a:r>
          </a:p>
          <a:p>
            <a:r>
              <a:rPr lang="en-US" dirty="0"/>
              <a:t>Refer to standard conventions of writing documentation</a:t>
            </a:r>
          </a:p>
          <a:p>
            <a:r>
              <a:rPr lang="en-US" dirty="0"/>
              <a:t>Add the slides from the deck as </a:t>
            </a:r>
          </a:p>
        </p:txBody>
      </p:sp>
    </p:spTree>
    <p:extLst>
      <p:ext uri="{BB962C8B-B14F-4D97-AF65-F5344CB8AC3E}">
        <p14:creationId xmlns:p14="http://schemas.microsoft.com/office/powerpoint/2010/main" val="1874568126"/>
      </p:ext>
    </p:extLst>
  </p:cSld>
  <p:clrMapOvr>
    <a:masterClrMapping/>
  </p:clrMapOvr>
</p:sld>
</file>

<file path=ppt/theme/theme1.xml><?xml version="1.0" encoding="utf-8"?>
<a:theme xmlns:a="http://schemas.openxmlformats.org/drawingml/2006/main" name="Adani">
  <a:themeElements>
    <a:clrScheme name="Adani University Col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DB6"/>
      </a:accent1>
      <a:accent2>
        <a:srgbClr val="8E278F"/>
      </a:accent2>
      <a:accent3>
        <a:srgbClr val="F04C23"/>
      </a:accent3>
      <a:accent4>
        <a:srgbClr val="00B16B"/>
      </a:accent4>
      <a:accent5>
        <a:srgbClr val="000000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ani" id="{B2BABC8B-12F4-4F6E-8925-C5A50813C054}" vid="{61AFF702-A3EE-43DF-B392-316E0B9492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Adani</Template>
  <TotalTime>26</TotalTime>
  <Words>110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Adani Medium</vt:lpstr>
      <vt:lpstr>Adani Regular</vt:lpstr>
      <vt:lpstr>Arial</vt:lpstr>
      <vt:lpstr>Calibri</vt:lpstr>
      <vt:lpstr>Courier New</vt:lpstr>
      <vt:lpstr>Open Sans</vt:lpstr>
      <vt:lpstr>Wingdings</vt:lpstr>
      <vt:lpstr>Adani</vt:lpstr>
      <vt:lpstr>PowerPoint Presentation</vt:lpstr>
      <vt:lpstr>Table of Contents</vt:lpstr>
      <vt:lpstr>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Asst. Prof. (Dr.) Vaishali Chourey</dc:creator>
  <cp:lastModifiedBy>Dr. Ritu Patel</cp:lastModifiedBy>
  <cp:revision>3</cp:revision>
  <dcterms:created xsi:type="dcterms:W3CDTF">2025-10-06T05:03:58Z</dcterms:created>
  <dcterms:modified xsi:type="dcterms:W3CDTF">2026-09-29T09:25:27Z</dcterms:modified>
</cp:coreProperties>
</file>